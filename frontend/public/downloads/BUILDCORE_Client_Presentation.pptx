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237744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Arial Narrow"/>
              </a:rPr>
              <a:t>CONSTRUCTION MANAGEMENT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AFAFA"/>
                </a:solidFill>
                <a:latin typeface="Arial Narrow"/>
              </a:rPr>
              <a:t>BUILDCORE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1A1AA"/>
                </a:solidFill>
                <a:latin typeface="Arial Narrow"/>
              </a:rPr>
              <a:t>One platform for Projects, Procurement, Finance, Clients,</a:t>
            </a:r>
          </a:p>
          <a:p>
            <a:pPr algn="l"/>
            <a:r>
              <a:rPr sz="2000" b="0">
                <a:solidFill>
                  <a:srgbClr val="A1A1AA"/>
                </a:solidFill>
                <a:latin typeface="Arial Narrow"/>
              </a:rPr>
              <a:t>Workforce and Vendors — from head office to the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Arial Narrow"/>
              </a:rPr>
              <a:t>Client Presentation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rial Narrow"/>
              </a:rPr>
              <a:t>WHY BUILDCORE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AFAFA"/>
                </a:solidFill>
                <a:latin typeface="Arial Narrow"/>
              </a:rPr>
              <a:t>EVERYTHING YOUR PROJECT NEEDS, CONNECTED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F97316"/>
                </a:solidFill>
              </a:rPr>
              <a:t>▪ </a:t>
            </a:r>
            <a:r>
              <a:rPr sz="1600" b="1">
                <a:solidFill>
                  <a:srgbClr val="FAFAFA"/>
                </a:solidFill>
              </a:rPr>
              <a:t>Single source of truth  —  </a:t>
            </a:r>
            <a:r>
              <a:rPr sz="1500">
                <a:solidFill>
                  <a:srgbClr val="A1A1AA"/>
                </a:solidFill>
              </a:rPr>
              <a:t>planning, purchasing, money and manpower share one live database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97316"/>
                </a:solidFill>
              </a:rPr>
              <a:t>▪ </a:t>
            </a:r>
            <a:r>
              <a:rPr sz="1600" b="1">
                <a:solidFill>
                  <a:srgbClr val="FAFAFA"/>
                </a:solidFill>
              </a:rPr>
              <a:t>Role-based portals  —  </a:t>
            </a:r>
            <a:r>
              <a:rPr sz="1500">
                <a:solidFill>
                  <a:srgbClr val="A1A1AA"/>
                </a:solidFill>
              </a:rPr>
              <a:t>Admin, Site Engineer, Accountant, Procurement, Client and Vendor each see exactly what they need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97316"/>
                </a:solidFill>
              </a:rPr>
              <a:t>▪ </a:t>
            </a:r>
            <a:r>
              <a:rPr sz="1600" b="1">
                <a:solidFill>
                  <a:srgbClr val="FAFAFA"/>
                </a:solidFill>
              </a:rPr>
              <a:t>Field-first  —  </a:t>
            </a:r>
            <a:r>
              <a:rPr sz="1500">
                <a:solidFill>
                  <a:srgbClr val="A1A1AA"/>
                </a:solidFill>
              </a:rPr>
              <a:t>one-tap attendance and progress updates from the site, visible at HQ instantly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97316"/>
                </a:solidFill>
              </a:rPr>
              <a:t>▪ </a:t>
            </a:r>
            <a:r>
              <a:rPr sz="1600" b="1">
                <a:solidFill>
                  <a:srgbClr val="FAFAFA"/>
                </a:solidFill>
              </a:rPr>
              <a:t>Financial control  —  </a:t>
            </a:r>
            <a:r>
              <a:rPr sz="1500">
                <a:solidFill>
                  <a:srgbClr val="A1A1AA"/>
                </a:solidFill>
              </a:rPr>
              <a:t>budgets, commitments, invoices and labour costs tracked in ₹ Crores, live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97316"/>
                </a:solidFill>
              </a:rPr>
              <a:t>▪ </a:t>
            </a:r>
            <a:r>
              <a:rPr sz="1600" b="1">
                <a:solidFill>
                  <a:srgbClr val="FAFAFA"/>
                </a:solidFill>
              </a:rPr>
              <a:t>Instant alerts  —  </a:t>
            </a:r>
            <a:r>
              <a:rPr sz="1500">
                <a:solidFill>
                  <a:srgbClr val="A1A1AA"/>
                </a:solidFill>
              </a:rPr>
              <a:t>blocked or delayed work notifies admins the moment it happens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103120"/>
            <a:ext cx="2560320" cy="164592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97316"/>
                </a:solidFill>
              </a:rPr>
              <a:t>6+</a:t>
            </a:r>
          </a:p>
          <a:p>
            <a:r>
              <a:rPr sz="1300">
                <a:solidFill>
                  <a:srgbClr val="A1A1AA"/>
                </a:solidFill>
              </a:rPr>
              <a:t>Integrated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2103120"/>
            <a:ext cx="2560320" cy="164592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97316"/>
                </a:solidFill>
              </a:rPr>
              <a:t>6</a:t>
            </a:r>
          </a:p>
          <a:p>
            <a:r>
              <a:rPr sz="1300">
                <a:solidFill>
                  <a:srgbClr val="A1A1AA"/>
                </a:solidFill>
              </a:rPr>
              <a:t>User roles &amp; portals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023360"/>
            <a:ext cx="2560320" cy="164592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97316"/>
                </a:solidFill>
              </a:rPr>
              <a:t>100%</a:t>
            </a:r>
          </a:p>
          <a:p>
            <a:r>
              <a:rPr sz="1300">
                <a:solidFill>
                  <a:srgbClr val="A1A1AA"/>
                </a:solidFill>
              </a:rPr>
              <a:t>E2E test pass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4023360"/>
            <a:ext cx="2560320" cy="164592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97316"/>
                </a:solidFill>
              </a:rPr>
              <a:t>Live</a:t>
            </a:r>
          </a:p>
          <a:p>
            <a:r>
              <a:rPr sz="1300">
                <a:solidFill>
                  <a:srgbClr val="A1A1AA"/>
                </a:solidFill>
              </a:rPr>
              <a:t>Real-time site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rial Narrow"/>
              </a:rPr>
              <a:t>PLATFORM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AFAFA"/>
                </a:solidFill>
                <a:latin typeface="Arial Narrow"/>
              </a:rPr>
              <a:t>SIX MODULES, ONE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3611880" cy="19202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97316"/>
                </a:solidFill>
              </a:rPr>
              <a:t>PROJECT PLANNING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1A1AA"/>
                </a:solidFill>
              </a:rPr>
              <a:t>Phases, milestones, % progress, site tracking updates, document vault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057400"/>
            <a:ext cx="3611880" cy="19202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97316"/>
                </a:solidFill>
              </a:rPr>
              <a:t>PROCUREMENT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1A1AA"/>
                </a:solidFill>
              </a:rPr>
              <a:t>Vendors, bid packages, POs, subcontracts, change orders, pay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80" y="2057400"/>
            <a:ext cx="3611880" cy="19202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97316"/>
                </a:solidFill>
              </a:rPr>
              <a:t>VENDOR QUOTATION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1A1AA"/>
                </a:solidFill>
              </a:rPr>
              <a:t>Vendor portal bidding, side-by-side quote comparison, one-click award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206240"/>
            <a:ext cx="3611880" cy="19202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97316"/>
                </a:solidFill>
              </a:rPr>
              <a:t>FINANCE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1A1AA"/>
                </a:solidFill>
              </a:rPr>
              <a:t>Invoices &amp; payments, expenses, payroll runs, project P&amp;L, labour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4206240"/>
            <a:ext cx="3611880" cy="19202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97316"/>
                </a:solidFill>
              </a:rPr>
              <a:t>CLIENT MANAGEMENT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1A1AA"/>
                </a:solidFill>
              </a:rPr>
              <a:t>Client directory, per-client projects, invoices &amp; documents, client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4206240"/>
            <a:ext cx="3611880" cy="19202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97316"/>
                </a:solidFill>
              </a:rPr>
              <a:t>WORKFORCE &amp; FIELD OPS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1A1AA"/>
                </a:solidFill>
              </a:rPr>
              <a:t>Employee register by trade, daily attendance, wage-based labour costing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Arial Narrow"/>
              </a:rPr>
              <a:t>Plus: role-based security (JWT), in-app blocked-work alerts, and real file uploads across all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rial Narrow"/>
              </a:rPr>
              <a:t>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AFAFA"/>
                </a:solidFill>
                <a:latin typeface="Arial Narrow"/>
              </a:rPr>
              <a:t>LIVE PORTFOLIO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Portfolio KPIs  —  </a:t>
            </a:r>
            <a:r>
              <a:rPr sz="1300">
                <a:solidFill>
                  <a:srgbClr val="A1A1AA"/>
                </a:solidFill>
              </a:rPr>
              <a:t>total projects, ongoing, issues, total budget in Crores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Status breakdown  —  </a:t>
            </a:r>
            <a:r>
              <a:rPr sz="1300">
                <a:solidFill>
                  <a:srgbClr val="A1A1AA"/>
                </a:solidFill>
              </a:rPr>
              <a:t>planning / ongoing / on-hold / completed at a glance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Recent projects  —  </a:t>
            </a:r>
            <a:r>
              <a:rPr sz="1300">
                <a:solidFill>
                  <a:srgbClr val="A1A1AA"/>
                </a:solidFill>
              </a:rPr>
              <a:t>client, engineer, budget, live % progress, status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Issue flags  —  </a:t>
            </a:r>
            <a:r>
              <a:rPr sz="1300">
                <a:solidFill>
                  <a:srgbClr val="A1A1AA"/>
                </a:solidFill>
              </a:rPr>
              <a:t>projects with blocked or delayed work highlighted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680" y="1935960"/>
            <a:ext cx="6460800" cy="366045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659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rial Narrow"/>
              </a:rPr>
              <a:t>MODULE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AFAFA"/>
                </a:solidFill>
                <a:latin typeface="Arial Narrow"/>
              </a:rPr>
              <a:t>PROJECT PLANNING &amp;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Project master  —  </a:t>
            </a:r>
            <a:r>
              <a:rPr sz="1300">
                <a:solidFill>
                  <a:srgbClr val="A1A1AA"/>
                </a:solidFill>
              </a:rPr>
              <a:t>budget, client, site engineer, planned vs actual dates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Phases &amp; milestones  —  </a:t>
            </a:r>
            <a:r>
              <a:rPr sz="1300">
                <a:solidFill>
                  <a:srgbClr val="A1A1AA"/>
                </a:solidFill>
              </a:rPr>
              <a:t>sequenced stages with weighted % completion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Site tracking  —  </a:t>
            </a:r>
            <a:r>
              <a:rPr sz="1300">
                <a:solidFill>
                  <a:srgbClr val="A1A1AA"/>
                </a:solidFill>
              </a:rPr>
              <a:t>progress updates with photos, flags: on-track / delayed / blocked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Document vault  —  </a:t>
            </a:r>
            <a:r>
              <a:rPr sz="1300">
                <a:solidFill>
                  <a:srgbClr val="A1A1AA"/>
                </a:solidFill>
              </a:rPr>
              <a:t>drawings, permits, contracts — uploaded &amp; versioned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Overall completion  —  </a:t>
            </a:r>
            <a:r>
              <a:rPr sz="1300">
                <a:solidFill>
                  <a:srgbClr val="A1A1AA"/>
                </a:solidFill>
              </a:rPr>
              <a:t>auto-computed from phase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680" y="1935960"/>
            <a:ext cx="6460800" cy="366045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ject_detai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659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rial Narrow"/>
              </a:rPr>
              <a:t>MODULE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AFAFA"/>
                </a:solidFill>
                <a:latin typeface="Arial Narrow"/>
              </a:rPr>
              <a:t>PROCUREMENT &amp; COMMITMENTS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Commitment register  —  </a:t>
            </a:r>
            <a:r>
              <a:rPr sz="1300">
                <a:solidFill>
                  <a:srgbClr val="A1A1AA"/>
                </a:solidFill>
              </a:rPr>
              <a:t>POs &amp; subcontracts with cost codes, COs, committed value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Approval workflow  —  </a:t>
            </a:r>
            <a:r>
              <a:rPr sz="1300">
                <a:solidFill>
                  <a:srgbClr val="A1A1AA"/>
                </a:solidFill>
              </a:rPr>
              <a:t>insurance-gated approvals; expired vendors blocked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Change orders  —  </a:t>
            </a:r>
            <a:r>
              <a:rPr sz="1300">
                <a:solidFill>
                  <a:srgbClr val="A1A1AA"/>
                </a:solidFill>
              </a:rPr>
              <a:t>approved COs auto-revise committed amounts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Pay applications  —  </a:t>
            </a:r>
            <a:r>
              <a:rPr sz="1300">
                <a:solidFill>
                  <a:srgbClr val="A1A1AA"/>
                </a:solidFill>
              </a:rPr>
              <a:t>retainage, G702/G703 line items, lien waivers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Budget variance  —  </a:t>
            </a:r>
            <a:r>
              <a:rPr sz="1300">
                <a:solidFill>
                  <a:srgbClr val="A1A1AA"/>
                </a:solidFill>
              </a:rPr>
              <a:t>over-budget cost codes flagged in real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680" y="1935960"/>
            <a:ext cx="6460800" cy="366045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curem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659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rial Narrow"/>
              </a:rPr>
              <a:t>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AFAFA"/>
                </a:solidFill>
                <a:latin typeface="Arial Narrow"/>
              </a:rPr>
              <a:t>VENDOR QUOTATION &amp; BIDDING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Vendor directory  —  </a:t>
            </a:r>
            <a:r>
              <a:rPr sz="1300">
                <a:solidFill>
                  <a:srgbClr val="A1A1AA"/>
                </a:solidFill>
              </a:rPr>
              <a:t>trades, ratings, insurance expiry warnings, prequalification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Vendor portal  —  </a:t>
            </a:r>
            <a:r>
              <a:rPr sz="1300">
                <a:solidFill>
                  <a:srgbClr val="A1A1AA"/>
                </a:solidFill>
              </a:rPr>
              <a:t>vendors log in, see invited packages, quote line-by-line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Quote comparison  —  </a:t>
            </a:r>
            <a:r>
              <a:rPr sz="1300">
                <a:solidFill>
                  <a:srgbClr val="A1A1AA"/>
                </a:solidFill>
              </a:rPr>
              <a:t>vendors side-by-side per line item, best price highlighted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One-click award  —  </a:t>
            </a:r>
            <a:r>
              <a:rPr sz="1300">
                <a:solidFill>
                  <a:srgbClr val="A1A1AA"/>
                </a:solidFill>
              </a:rPr>
              <a:t>award as PO or Subcontract — commitment created instantly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680" y="1935960"/>
            <a:ext cx="6460800" cy="366045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endor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659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rial Narrow"/>
              </a:rPr>
              <a:t>MODULE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AFAFA"/>
                </a:solidFill>
                <a:latin typeface="Arial Narrow"/>
              </a:rPr>
              <a:t>FINANCE, PAYROLL &amp; LABOUR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Org dashboard  —  </a:t>
            </a:r>
            <a:r>
              <a:rPr sz="1300">
                <a:solidFill>
                  <a:srgbClr val="A1A1AA"/>
                </a:solidFill>
              </a:rPr>
              <a:t>income, cost, profit and outstanding invoices — live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Project P&amp;L  —  </a:t>
            </a:r>
            <a:r>
              <a:rPr sz="1300">
                <a:solidFill>
                  <a:srgbClr val="A1A1AA"/>
                </a:solidFill>
              </a:rPr>
              <a:t>invoices, payments received, expense log per project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Payroll runs  —  </a:t>
            </a:r>
            <a:r>
              <a:rPr sz="1300">
                <a:solidFill>
                  <a:srgbClr val="A1A1AA"/>
                </a:solidFill>
              </a:rPr>
              <a:t>salaried staff payroll: create → process → mark paid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Labour cost report  —  </a:t>
            </a:r>
            <a:r>
              <a:rPr sz="1300">
                <a:solidFill>
                  <a:srgbClr val="A1A1AA"/>
                </a:solidFill>
              </a:rPr>
              <a:t>attendance × daily wage, auto-computed per project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Overdue tracking  —  </a:t>
            </a:r>
            <a:r>
              <a:rPr sz="1300">
                <a:solidFill>
                  <a:srgbClr val="A1A1AA"/>
                </a:solidFill>
              </a:rPr>
              <a:t>aging invoices surfaced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680" y="1935960"/>
            <a:ext cx="6460800" cy="366045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nanc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659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rial Narrow"/>
              </a:rPr>
              <a:t>MODULE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AFAFA"/>
                </a:solidFill>
                <a:latin typeface="Arial Narrow"/>
              </a:rPr>
              <a:t>CLIENT MANAGEMENT &amp; CLIENT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Client directory  —  </a:t>
            </a:r>
            <a:r>
              <a:rPr sz="1300">
                <a:solidFill>
                  <a:srgbClr val="A1A1AA"/>
                </a:solidFill>
              </a:rPr>
              <a:t>active projects, total billed, status per client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Client 360°  —  </a:t>
            </a:r>
            <a:r>
              <a:rPr sz="1300">
                <a:solidFill>
                  <a:srgbClr val="A1A1AA"/>
                </a:solidFill>
              </a:rPr>
              <a:t>projects, invoices and shared documents in tabs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Client portal  —  </a:t>
            </a:r>
            <a:r>
              <a:rPr sz="1300">
                <a:solidFill>
                  <a:srgbClr val="A1A1AA"/>
                </a:solidFill>
              </a:rPr>
              <a:t>clients log in to see their projects, progress &amp; documents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Controlled sharing  —  </a:t>
            </a:r>
            <a:r>
              <a:rPr sz="1300">
                <a:solidFill>
                  <a:srgbClr val="A1A1AA"/>
                </a:solidFill>
              </a:rPr>
              <a:t>internal documents stay internal — client-safe by default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680" y="1935960"/>
            <a:ext cx="6460800" cy="366045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ent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659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rial Narrow"/>
              </a:rPr>
              <a:t>MODULE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AFAFA"/>
                </a:solidFill>
                <a:latin typeface="Arial Narrow"/>
              </a:rPr>
              <a:t>WORKFORCE, ATTENDANCE &amp; FIELD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Employee register  —  </a:t>
            </a:r>
            <a:r>
              <a:rPr sz="1300">
                <a:solidFill>
                  <a:srgbClr val="A1A1AA"/>
                </a:solidFill>
              </a:rPr>
              <a:t>field workers by managed trade categories (Mason, Electrician…)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One-tap attendance  —  </a:t>
            </a:r>
            <a:r>
              <a:rPr sz="1300">
                <a:solidFill>
                  <a:srgbClr val="A1A1AA"/>
                </a:solidFill>
              </a:rPr>
              <a:t>Present / Half-day / Absent / Leave from the site engineer's phone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7-day grid  —  </a:t>
            </a:r>
            <a:r>
              <a:rPr sz="1300">
                <a:solidFill>
                  <a:srgbClr val="A1A1AA"/>
                </a:solidFill>
              </a:rPr>
              <a:t>admins review &amp; correct attendance; 3-day backdating guard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Wage control  —  </a:t>
            </a:r>
            <a:r>
              <a:rPr sz="1300">
                <a:solidFill>
                  <a:srgbClr val="A1A1AA"/>
                </a:solidFill>
              </a:rPr>
              <a:t>site engineers add workers; only Admin/Accountant edit wages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Single source of truth  —  </a:t>
            </a:r>
            <a:r>
              <a:rPr sz="1300">
                <a:solidFill>
                  <a:srgbClr val="A1A1AA"/>
                </a:solidFill>
              </a:rPr>
              <a:t>field entries appear at HQ instantly — no syncing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680" y="1935960"/>
            <a:ext cx="6460800" cy="366045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eld_op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659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rial Narrow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AFAFA"/>
                </a:solidFill>
                <a:latin typeface="Arial Narrow"/>
              </a:rPr>
              <a:t>USER MANAGEMENT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Six roles  —  </a:t>
            </a:r>
            <a:r>
              <a:rPr sz="1300">
                <a:solidFill>
                  <a:srgbClr val="A1A1AA"/>
                </a:solidFill>
              </a:rPr>
              <a:t>Admin, Site Engineer, Accountant, Procurement Officer, Client, Vendor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Full lifecycle  —  </a:t>
            </a:r>
            <a:r>
              <a:rPr sz="1300">
                <a:solidFill>
                  <a:srgbClr val="A1A1AA"/>
                </a:solidFill>
              </a:rPr>
              <a:t>invite, disable, reset password, project assignments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Server-enforced access  —  </a:t>
            </a:r>
            <a:r>
              <a:rPr sz="1300">
                <a:solidFill>
                  <a:srgbClr val="A1A1AA"/>
                </a:solidFill>
              </a:rPr>
              <a:t>engineers scoped to assigned projects; portals isolated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JWT authentication  —  </a:t>
            </a:r>
            <a:r>
              <a:rPr sz="1300">
                <a:solidFill>
                  <a:srgbClr val="A1A1AA"/>
                </a:solidFill>
              </a:rPr>
              <a:t>secure sessions; every route permission-checked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</a:rPr>
              <a:t>▪ </a:t>
            </a:r>
            <a:r>
              <a:rPr sz="1400" b="1">
                <a:solidFill>
                  <a:srgbClr val="FAFAFA"/>
                </a:solidFill>
              </a:rPr>
              <a:t>Blocked-work alerts  —  </a:t>
            </a:r>
            <a:r>
              <a:rPr sz="1300">
                <a:solidFill>
                  <a:srgbClr val="A1A1AA"/>
                </a:solidFill>
              </a:rPr>
              <a:t>admins &amp; engineers notified in-app the moment work stalls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680" y="1935960"/>
            <a:ext cx="6460800" cy="366045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ser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659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rial Narrow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AFAFA"/>
                </a:solidFill>
                <a:latin typeface="Arial Narrow"/>
              </a:rPr>
              <a:t>MODERN, PROVEN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5486400" cy="14630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97316"/>
                </a:solidFill>
              </a:rPr>
              <a:t>FRONTEND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AFAFA"/>
                </a:solidFill>
              </a:rPr>
              <a:t>React 19 · Tailwind CSS · responsive, mobile-friendly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194560"/>
            <a:ext cx="5486400" cy="14630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97316"/>
                </a:solidFill>
              </a:rPr>
              <a:t>BACKEND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AFAFA"/>
                </a:solidFill>
              </a:rPr>
              <a:t>FastAPI (Python) · REST API · JWT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31920"/>
            <a:ext cx="5486400" cy="14630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97316"/>
                </a:solidFill>
              </a:rPr>
              <a:t>DATABASE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AFAFA"/>
                </a:solidFill>
              </a:rPr>
              <a:t>PostgreSQL — relational integrity for financial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931920"/>
            <a:ext cx="5486400" cy="14630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97316"/>
                </a:solidFill>
              </a:rPr>
              <a:t>QUALITY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AFAFA"/>
                </a:solidFill>
              </a:rPr>
              <a:t>90+ automated backend tests · 8 rounds of end-to-end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Arial Narrow"/>
              </a:rPr>
              <a:t>Scales from a single site to a full portfolio. Deployable to the cloud with your domain and branding.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237744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Arial Narrow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AFAFA"/>
                </a:solidFill>
                <a:latin typeface="Arial Narrow"/>
              </a:rPr>
              <a:t>LET'S BUILD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F97316"/>
                </a:solidFill>
              </a:rPr>
              <a:t>▪ </a:t>
            </a:r>
            <a:r>
              <a:rPr sz="1700" b="1">
                <a:solidFill>
                  <a:srgbClr val="FAFAFA"/>
                </a:solidFill>
              </a:rPr>
              <a:t>Live walkthrough  —  </a:t>
            </a:r>
            <a:r>
              <a:rPr sz="1600">
                <a:solidFill>
                  <a:srgbClr val="A1A1AA"/>
                </a:solidFill>
              </a:rPr>
              <a:t>guided demo with your own project data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97316"/>
                </a:solidFill>
              </a:rPr>
              <a:t>▪ </a:t>
            </a:r>
            <a:r>
              <a:rPr sz="1700" b="1">
                <a:solidFill>
                  <a:srgbClr val="FAFAFA"/>
                </a:solidFill>
              </a:rPr>
              <a:t>Pilot project  —  </a:t>
            </a:r>
            <a:r>
              <a:rPr sz="1600">
                <a:solidFill>
                  <a:srgbClr val="A1A1AA"/>
                </a:solidFill>
              </a:rPr>
              <a:t>onboard one live site in days, not months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97316"/>
                </a:solidFill>
              </a:rPr>
              <a:t>▪ </a:t>
            </a:r>
            <a:r>
              <a:rPr sz="1700" b="1">
                <a:solidFill>
                  <a:srgbClr val="FAFAFA"/>
                </a:solidFill>
              </a:rPr>
              <a:t>Roadmap  —  </a:t>
            </a:r>
            <a:r>
              <a:rPr sz="1600">
                <a:solidFill>
                  <a:srgbClr val="A1A1AA"/>
                </a:solidFill>
              </a:rPr>
              <a:t>attendance-linked payroll, Gantt timelines, PDF invoice exports &amp;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Arial Narrow"/>
              </a:rPr>
              <a:t>BUILDCORE — Construction Management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